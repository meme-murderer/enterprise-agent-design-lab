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894" autoAdjust="0"/>
  </p:normalViewPr>
  <p:slideViewPr>
    <p:cSldViewPr snapToGrid="0">
      <p:cViewPr varScale="1">
        <p:scale>
          <a:sx n="81" d="100"/>
          <a:sy n="81" d="100"/>
        </p:scale>
        <p:origin x="80" y="10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question and pause.</a:t>
            </a:r>
          </a:p>
          <a:p>
            <a:r>
              <a:t>We have spent enormous energy preparing people to use agents. My question is whether the systems around those people are ready for the resulting workload.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Tell this as a 60-second first-person story, not a technical postmortem.</a:t>
            </a:r>
          </a:p>
          <a:p>
            <a:r>
              <a:t>The important point is not OneDrive. It is that normal enterprise software quietly assumes a human rate and pattern of change.</a:t>
            </a:r>
          </a:p>
          <a:p>
            <a:r>
              <a:t>[Sources]</a:t>
            </a:r>
          </a:p>
          <a:p>
            <a:r>
              <a:t>- Personal experience described by Jandee Richards, August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Humans were a hidden control in the architecture: we pause, prioritize, sleep, and notice errors.</a:t>
            </a:r>
          </a:p>
          <a:p>
            <a:r>
              <a:rPr dirty="0"/>
              <a:t>Agents remove that rate limiter. </a:t>
            </a:r>
            <a:r>
              <a:t>The operational shape becomes parallel, bursty, recursive, and persistent.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these as a progression: demand is accelerating; a major platform experienced capacity failure; infrastructure providers are changing products for the new workload shape.</a:t>
            </a:r>
          </a:p>
          <a:p>
            <a:r>
              <a:t>Do not say agents alone caused GitHub's August outage. GitHub connected agentic workflows to accelerating repository, pull-request, and API activity in June; in August it reported the commit growth and a capacity failure.</a:t>
            </a:r>
          </a:p>
          <a:p>
            <a:r>
              <a:t>Cloudflare's 50%+ figure is non-human traffic broadly. The agent-specific metric is 1,700%+ year-over-year growth in daily AI-agent requests.</a:t>
            </a:r>
          </a:p>
          <a:p>
            <a:r>
              <a:t>[Sources]</a:t>
            </a:r>
          </a:p>
          <a:p>
            <a:r>
              <a:t>- https://www.cloudflare.net/files/doc_financials/2026/q2/Q2-2026-Cloudflare-Investor-Presentation.pdf</a:t>
            </a:r>
          </a:p>
          <a:p>
            <a:r>
              <a:t>- https://github.blog/news-insights/product-news/github-copilot-app-the-agent-native-desktop-experience/</a:t>
            </a:r>
          </a:p>
          <a:p>
            <a:r>
              <a:t>- https://github.blog/news-insights/company-news/the-august-17-outage-and-the-work-ahead/</a:t>
            </a:r>
          </a:p>
          <a:p>
            <a:r>
              <a:t>- https://aws.amazon.com/blogs/database/faster-scaling-for-aurora-serverless-to-support-agentic-ai-and-other-spiky-workloads/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Agents do not stay inside the AI platform. They reach into every system exposed through a credential, API, browser, filesystem, or workflow.</a:t>
            </a:r>
          </a:p>
          <a:p>
            <a:r>
              <a:t>The failure is often operational amplification rather than data volume: more transactions, metadata, events, versions, logs, and retries.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three executive questions:</a:t>
            </a:r>
          </a:p>
          <a:p>
            <a:r>
              <a:t>1. Can we attribute every agent and consequential action?</a:t>
            </a:r>
          </a:p>
          <a:p>
            <a:r>
              <a:t>2. Have we bounded permissions, concurrency, retries, and spending?</a:t>
            </a:r>
          </a:p>
          <a:p>
            <a:r>
              <a:t>3. Can we stop an agent fleet without making the incident worse?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Return to the opening story, then close slowly:</a:t>
            </a:r>
          </a:p>
          <a:p>
            <a:r>
              <a:rPr dirty="0"/>
              <a:t>Before you ask what thousands of agents can do for your organization, ask what thousands of agents can do to your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only if asked for additional examples or if the panel gives extra time.</a:t>
            </a:r>
          </a:p>
          <a:p>
            <a:r>
              <a:t>[Sources]</a:t>
            </a:r>
          </a:p>
          <a:p>
            <a:r>
              <a:t>- https://forum.cursor.com/t/rate-limited-due-to-too-many-concurrent-runs-on-my-single-agent-automation/168498/7</a:t>
            </a:r>
          </a:p>
          <a:p>
            <a:r>
              <a:t>- https://buildkite.com/resources/changelog/392-buildkite-is-a-cursor-origin-launch-partner/</a:t>
            </a:r>
          </a:p>
          <a:p>
            <a:r>
              <a:t>- https://llmgateway.io/changelog/concurrent-request-limits</a:t>
            </a:r>
          </a:p>
          <a:p>
            <a:r>
              <a:t>- https://blogs.nvidia.com/blog/vera-rubin-nvl72-efficiency-ai-agents/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0A35C-6366-F58F-B0FA-8BF7D31003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8E31F0-69D3-0CF3-5294-C32A55F39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AF00E-293B-D961-9A94-257CC12DED3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277019-1190-1A4D-A9A6-00F58846BE65}" type="datetimeFigureOut">
              <a:t>8/27/2026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CAFEC-019E-8971-1196-D1FD1D65161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FFF07-7FC9-A2F9-09AD-53A8A73DB8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B43BFD2-3799-EC49-B9B2-9E6B14445A9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333EE-516E-AC82-09B5-82B3CCF9F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45AB4-C0DC-C4F4-A751-1F261204F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53F6F-380F-ABA6-25B2-109E10739A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277019-1190-1A4D-A9A6-00F58846BE65}" type="datetimeFigureOut">
              <a:t>8/27/2026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818F3-304D-F0BF-15BB-84E38B7EE26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AAD08-3E12-06E6-F8D2-1C1821C941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B43BFD2-3799-EC49-B9B2-9E6B14445A9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21BF-26C5-423E-917D-91AA08CDA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A84D2-3153-D067-A9E6-1B477617B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345BE-0F61-C1D0-A867-05CF2312E5D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277019-1190-1A4D-A9A6-00F58846BE65}" type="datetimeFigureOut">
              <a:t>8/27/2026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7C2B2-62BA-822D-EDC8-EBD390ECA89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9993A-667A-A7F8-AC6E-BD3B76913D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B43BFD2-3799-EC49-B9B2-9E6B14445A9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A01EA-315C-0263-5281-3A53403B6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EFA11-9C00-8AC7-3402-25D05E28C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EAECEC-DF2E-5697-A13B-D3FD48233D6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5C174-740C-B9FB-9E6C-686D2638C9D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277019-1190-1A4D-A9A6-00F58846BE65}" type="datetimeFigureOut">
              <a:t>8/27/2026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780E0-5FCA-47CE-15C3-A5A53B3A842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377B7-5823-05B2-A9CF-4939DAD0B4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B43BFD2-3799-EC49-B9B2-9E6B14445A9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EC673-528E-CB5E-29AA-AD1FD086B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8DBA8-9641-976F-5186-0AB09E28A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3C9EE3-2115-286E-00CC-AC7CB44B402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D2ECEA-30D9-197F-C775-FDFE6C479B8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CD9353-888C-8851-0577-672BAA4FCA1F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6053D9-BF03-D84A-43F6-459672B0209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277019-1190-1A4D-A9A6-00F58846BE65}" type="datetimeFigureOut">
              <a:t>8/27/2026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374FDA-A383-B10B-2682-2873C97D619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6C904D-A7D5-E15C-1D48-C1049CC0BC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B43BFD2-3799-EC49-B9B2-9E6B14445A9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1D285-5E22-347A-B087-05E10F4BE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4C920-580E-3CC3-E1C5-B5F2DD67447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277019-1190-1A4D-A9A6-00F58846BE65}" type="datetimeFigureOut">
              <a:t>8/27/2026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E2A1D5-73A6-998E-C66F-14F549349B0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635CA-5F26-578D-7415-B3AFC7C254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B43BFD2-3799-EC49-B9B2-9E6B14445A9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D6E18C-3D8C-8B20-144F-0FD91111566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277019-1190-1A4D-A9A6-00F58846BE65}" type="datetimeFigureOut">
              <a:t>8/27/2026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628233-C92E-73B8-3111-A8DCE651409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983AE3-7BE1-AA77-96A7-BA928FAA33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B43BFD2-3799-EC49-B9B2-9E6B14445A9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3E3CF-2FB6-46D9-8121-0B349F022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43537-0A79-D829-F267-C34CEB0C3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34F1A8-4BF7-9EAF-9072-A5C24398A79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5BC9F-847F-EE70-51B5-AC85AA21711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277019-1190-1A4D-A9A6-00F58846BE65}" type="datetimeFigureOut">
              <a:t>8/27/2026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C33F50-9C0D-565C-8569-530654F3838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7CBFD-34FD-08B0-6AD0-E29B4A69AA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B43BFD2-3799-EC49-B9B2-9E6B14445A9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A7FAE-3151-A15D-F582-EDA191A0B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5B8266-7B24-C2A5-B812-F5A81B9277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8AB504-7B9A-72AA-29F3-1496D9D87BE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DF450-D304-8C8C-BCD3-6D6E2B903DB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277019-1190-1A4D-A9A6-00F58846BE65}" type="datetimeFigureOut">
              <a:t>8/27/2026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21438-065F-D028-EADD-0A2F824EB68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75C3B9-7726-F129-541A-4BD1BA00F7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B43BFD2-3799-EC49-B9B2-9E6B14445A9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0A35C-6366-F58F-B0FA-8BF7D31003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8E31F0-69D3-0CF3-5294-C32A55F39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AF00E-293B-D961-9A94-257CC12DED3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277019-1190-1A4D-A9A6-00F58846BE65}" type="datetimeFigureOut">
              <a:t>8/27/2026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CAFEC-019E-8971-1196-D1FD1D65161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FFF07-7FC9-A2F9-09AD-53A8A73DB8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B43BFD2-3799-EC49-B9B2-9E6B14445A9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333EE-516E-AC82-09B5-82B3CCF9F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45AB4-C0DC-C4F4-A751-1F261204F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53F6F-380F-ABA6-25B2-109E10739A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277019-1190-1A4D-A9A6-00F58846BE65}" type="datetimeFigureOut">
              <a:t>8/27/2026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818F3-304D-F0BF-15BB-84E38B7EE26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AAD08-3E12-06E6-F8D2-1C1821C941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B43BFD2-3799-EC49-B9B2-9E6B14445A9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21BF-26C5-423E-917D-91AA08CDA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A84D2-3153-D067-A9E6-1B477617B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345BE-0F61-C1D0-A867-05CF2312E5D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277019-1190-1A4D-A9A6-00F58846BE65}" type="datetimeFigureOut">
              <a:t>8/27/2026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7C2B2-62BA-822D-EDC8-EBD390ECA89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9993A-667A-A7F8-AC6E-BD3B76913D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B43BFD2-3799-EC49-B9B2-9E6B14445A9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A01EA-315C-0263-5281-3A53403B6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EFA11-9C00-8AC7-3402-25D05E28C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EAECEC-DF2E-5697-A13B-D3FD48233D6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5C174-740C-B9FB-9E6C-686D2638C9D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277019-1190-1A4D-A9A6-00F58846BE65}" type="datetimeFigureOut">
              <a:t>8/27/2026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780E0-5FCA-47CE-15C3-A5A53B3A842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377B7-5823-05B2-A9CF-4939DAD0B4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B43BFD2-3799-EC49-B9B2-9E6B14445A9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EC673-528E-CB5E-29AA-AD1FD086B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8DBA8-9641-976F-5186-0AB09E28A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3C9EE3-2115-286E-00CC-AC7CB44B402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D2ECEA-30D9-197F-C775-FDFE6C479B8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CD9353-888C-8851-0577-672BAA4FCA1F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6053D9-BF03-D84A-43F6-459672B0209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277019-1190-1A4D-A9A6-00F58846BE65}" type="datetimeFigureOut">
              <a:t>8/27/2026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374FDA-A383-B10B-2682-2873C97D619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6C904D-A7D5-E15C-1D48-C1049CC0BC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B43BFD2-3799-EC49-B9B2-9E6B14445A9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1D285-5E22-347A-B087-05E10F4BE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4C920-580E-3CC3-E1C5-B5F2DD67447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277019-1190-1A4D-A9A6-00F58846BE65}" type="datetimeFigureOut">
              <a:t>8/27/2026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E2A1D5-73A6-998E-C66F-14F549349B0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635CA-5F26-578D-7415-B3AFC7C254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B43BFD2-3799-EC49-B9B2-9E6B14445A9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D6E18C-3D8C-8B20-144F-0FD91111566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277019-1190-1A4D-A9A6-00F58846BE65}" type="datetimeFigureOut">
              <a:t>8/27/2026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628233-C92E-73B8-3111-A8DCE651409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983AE3-7BE1-AA77-96A7-BA928FAA33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B43BFD2-3799-EC49-B9B2-9E6B14445A9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3E3CF-2FB6-46D9-8121-0B349F022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43537-0A79-D829-F267-C34CEB0C3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34F1A8-4BF7-9EAF-9072-A5C24398A79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5BC9F-847F-EE70-51B5-AC85AA21711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277019-1190-1A4D-A9A6-00F58846BE65}" type="datetimeFigureOut">
              <a:t>8/27/2026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C33F50-9C0D-565C-8569-530654F3838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7CBFD-34FD-08B0-6AD0-E29B4A69AA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B43BFD2-3799-EC49-B9B2-9E6B14445A9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A7FAE-3151-A15D-F582-EDA191A0B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5B8266-7B24-C2A5-B812-F5A81B9277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8AB504-7B9A-72AA-29F3-1496D9D87BE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DF450-D304-8C8C-BCD3-6D6E2B903DB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277019-1190-1A4D-A9A6-00F58846BE65}" type="datetimeFigureOut">
              <a:t>8/27/2026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21438-065F-D028-EADD-0A2F824EB68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75C3B9-7726-F129-541A-4BD1BA00F7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B43BFD2-3799-EC49-B9B2-9E6B14445A9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60211A-A424-34F9-E942-81ECCA911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A1012-0B6C-7FCB-B79C-0364A23BB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2FD44-341C-0485-2671-B4FED2C47B8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D6277019-1190-1A4D-A9A6-00F58846BE65}" type="datetimeFigureOut">
              <a:t>8/27/2026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50149-FBA8-BA58-7E96-A95436BD0BC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endParaRPr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6BAF2-3C83-1D03-917E-D02D79055FB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2B43BFD2-3799-EC49-B9B2-9E6B14445A9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2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60211A-A424-34F9-E942-81ECCA911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A1012-0B6C-7FCB-B79C-0364A23BB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2FD44-341C-0485-2671-B4FED2C47B8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bg2"/>
                </a:solidFill>
              </a:defRPr>
            </a:lvl1pPr>
          </a:lstStyle>
          <a:p>
            <a:fld id="{D6277019-1190-1A4D-A9A6-00F58846BE65}" type="datetimeFigureOut">
              <a:t>8/27/2026</a:t>
            </a:fld>
            <a:endParaRPr>
              <a:solidFill>
                <a:schemeClr val="bg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50149-FBA8-BA58-7E96-A95436BD0BC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2"/>
                </a:solidFill>
              </a:defRPr>
            </a:lvl1pPr>
          </a:lstStyle>
          <a:p>
            <a:endParaRPr>
              <a:solidFill>
                <a:schemeClr val="bg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6BAF2-3C83-1D03-917E-D02D79055FB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bg2"/>
                </a:solidFill>
              </a:defRPr>
            </a:lvl1pPr>
          </a:lstStyle>
          <a:p>
            <a:fld id="{2B43BFD2-3799-EC49-B9B2-9E6B14445A9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bg2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bg2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bg2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bg2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bg2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8EE44AAC-1035-0FC4-A11E-81283E727136}"/>
              </a:ext>
            </a:extLst>
          </p:cNvPr>
          <p:cNvSpPr>
            <a:spLocks noGrp="1"/>
          </p:cNvSpPr>
          <p:nvPr/>
        </p:nvSpPr>
        <p:spPr>
          <a:xfrm>
            <a:off x="838200" y="2003425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>
            <a:spAutoFit/>
          </a:bodyPr>
          <a:lstStyle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 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b="0" i="0" u="non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76361B-C602-49BF-89CC-42A6362FF256}"/>
              </a:ext>
            </a:extLst>
          </p:cNvPr>
          <p:cNvSpPr>
            <a:spLocks noGrp="1"/>
          </p:cNvSpPr>
          <p:nvPr/>
        </p:nvSpPr>
        <p:spPr>
          <a:xfrm>
            <a:off x="203668" y="2382618"/>
            <a:ext cx="12190655" cy="758384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sz="2400" spc="600">
                <a:solidFill>
                  <a:schemeClr val="bg1"/>
                </a:solidFill>
                <a:latin typeface="Arial"/>
                <a:ea typeface="Arial"/>
                <a:cs typeface="Arial"/>
              </a:rPr>
              <a:t>ARE YOUR ENTERPRISE SYSTEMS READY FOR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F21F13-8CDA-378C-9D5A-FD74E0291A90}"/>
              </a:ext>
            </a:extLst>
          </p:cNvPr>
          <p:cNvSpPr>
            <a:spLocks noGrp="1"/>
          </p:cNvSpPr>
          <p:nvPr/>
        </p:nvSpPr>
        <p:spPr>
          <a:xfrm>
            <a:off x="541507" y="3141002"/>
            <a:ext cx="11108986" cy="1807426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sz="11000" b="1">
                <a:solidFill>
                  <a:schemeClr val="accent1"/>
                </a:solidFill>
                <a:latin typeface="Arial Black"/>
                <a:ea typeface="Arial Black"/>
                <a:cs typeface="Arial Black"/>
              </a:rPr>
              <a:t>AGENTS?</a:t>
            </a:r>
          </a:p>
        </p:txBody>
      </p:sp>
      <p:pic>
        <p:nvPicPr>
          <p:cNvPr id="10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2803" y="480365"/>
            <a:ext cx="3286394" cy="1314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182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29184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 Black"/>
              </a:rPr>
              <a:t>Agents exposed a hidden assumption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371600"/>
            <a:ext cx="3474720" cy="3977639"/>
          </a:xfrm>
          <a:prstGeom prst="rect">
            <a:avLst/>
          </a:prstGeom>
          <a:solidFill>
            <a:srgbClr val="F9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3504" y="1371600"/>
            <a:ext cx="100584" cy="3977639"/>
          </a:xfrm>
          <a:prstGeom prst="rect">
            <a:avLst/>
          </a:prstGeom>
          <a:solidFill>
            <a:srgbClr val="004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14984" y="1682496"/>
            <a:ext cx="2651760" cy="33558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400"/>
              </a:spcAft>
            </a:pPr>
            <a:r>
              <a:rPr sz="4000" b="1">
                <a:solidFill>
                  <a:srgbClr val="9C9EA0"/>
                </a:solidFill>
                <a:latin typeface="Arial Black"/>
              </a:rPr>
              <a:t>01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0498F"/>
                </a:solidFill>
                <a:latin typeface="Arial"/>
              </a:rPr>
              <a:t>MULTIPLE AGENTS, ONE SYNCED FOLDER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182F59"/>
                </a:solidFill>
                <a:latin typeface="Arial"/>
              </a:rPr>
              <a:t>Several coding agents writing into the same OneDrive workspace, concurrently.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52544" y="1371600"/>
            <a:ext cx="3474720" cy="3977639"/>
          </a:xfrm>
          <a:prstGeom prst="rect">
            <a:avLst/>
          </a:prstGeom>
          <a:solidFill>
            <a:srgbClr val="F9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52544" y="1371600"/>
            <a:ext cx="100584" cy="3977639"/>
          </a:xfrm>
          <a:prstGeom prst="rect">
            <a:avLst/>
          </a:prstGeom>
          <a:solidFill>
            <a:srgbClr val="004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64024" y="1682496"/>
            <a:ext cx="2651760" cy="33558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400"/>
              </a:spcAft>
            </a:pPr>
            <a:r>
              <a:rPr sz="4000" b="1">
                <a:solidFill>
                  <a:srgbClr val="9C9EA0"/>
                </a:solidFill>
                <a:latin typeface="Arial Black"/>
              </a:rPr>
              <a:t>02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0498F"/>
                </a:solidFill>
                <a:latin typeface="Arial"/>
              </a:rPr>
              <a:t>AN UNSUPPORTED FILESYSTEM OBJECT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182F59"/>
                </a:solidFill>
                <a:latin typeface="Arial"/>
              </a:rPr>
              <a:t>An agent created a Windows junction. Valid to Windows. Unreadable to the sync layer.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01584" y="1371600"/>
            <a:ext cx="3474720" cy="3977639"/>
          </a:xfrm>
          <a:prstGeom prst="rect">
            <a:avLst/>
          </a:prstGeom>
          <a:solidFill>
            <a:srgbClr val="F9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101584" y="1371600"/>
            <a:ext cx="100584" cy="3977639"/>
          </a:xfrm>
          <a:prstGeom prst="rect">
            <a:avLst/>
          </a:prstGeom>
          <a:solidFill>
            <a:srgbClr val="004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13064" y="1682496"/>
            <a:ext cx="2651760" cy="33558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400"/>
              </a:spcAft>
            </a:pPr>
            <a:r>
              <a:rPr sz="4000" b="1">
                <a:solidFill>
                  <a:srgbClr val="9C9EA0"/>
                </a:solidFill>
                <a:latin typeface="Arial Black"/>
              </a:rPr>
              <a:t>03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0498F"/>
                </a:solidFill>
                <a:latin typeface="Arial"/>
              </a:rPr>
              <a:t>SYNC BLOCKED, HOURS TO UNWIND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182F59"/>
                </a:solidFill>
                <a:latin typeface="Arial"/>
              </a:rPr>
              <a:t>No warning first. It all happened faster than I could observe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5623560"/>
            <a:ext cx="82296" cy="566928"/>
          </a:xfrm>
          <a:prstGeom prst="rect">
            <a:avLst/>
          </a:prstGeom>
          <a:solidFill>
            <a:srgbClr val="D2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623560"/>
            <a:ext cx="1070762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 Black"/>
              </a:rPr>
              <a:t>Our systems were built on the assumption that humans are slow.</a:t>
            </a:r>
          </a:p>
        </p:txBody>
      </p:sp>
    </p:spTree>
    <p:extLst>
      <p:ext uri="{BB962C8B-B14F-4D97-AF65-F5344CB8AC3E}">
        <p14:creationId xmlns:p14="http://schemas.microsoft.com/office/powerpoint/2010/main" val="2592182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29184"/>
            <a:ext cx="10972800" cy="954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000" b="1" dirty="0">
                <a:solidFill>
                  <a:srgbClr val="00498F"/>
                </a:solidFill>
                <a:latin typeface="Arial Black"/>
              </a:rPr>
              <a:t>Agentic Acceleration</a:t>
            </a:r>
          </a:p>
          <a:p>
            <a:pPr algn="l"/>
            <a:endParaRPr sz="3000" b="1" dirty="0">
              <a:solidFill>
                <a:srgbClr val="00498F"/>
              </a:solidFill>
              <a:latin typeface="Arial Blac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3504" y="1325880"/>
            <a:ext cx="5257800" cy="402336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14984" y="1572768"/>
            <a:ext cx="4434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00498F"/>
                </a:solidFill>
                <a:latin typeface="Arial Black"/>
              </a:rPr>
              <a:t>HUMAN SPEED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" y="233172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82F59"/>
                </a:solidFill>
                <a:latin typeface="Arial"/>
              </a:rPr>
              <a:t>Sequential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26664" y="233172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82F59"/>
                </a:solidFill>
                <a:latin typeface="Arial"/>
              </a:rPr>
              <a:t>One task at a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" y="310896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82F59"/>
                </a:solidFill>
                <a:latin typeface="Arial"/>
              </a:rPr>
              <a:t>Intermittent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26664" y="310896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82F59"/>
                </a:solidFill>
                <a:latin typeface="Arial"/>
              </a:rPr>
              <a:t>Natural pauses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" y="388620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82F59"/>
                </a:solidFill>
                <a:latin typeface="Arial"/>
              </a:rPr>
              <a:t>Observable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26664" y="388620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82F59"/>
                </a:solidFill>
                <a:latin typeface="Arial"/>
              </a:rPr>
              <a:t>Human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466344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82F59"/>
                </a:solidFill>
                <a:latin typeface="Arial"/>
              </a:rPr>
              <a:t>Self-limiting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6664" y="466344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82F59"/>
                </a:solidFill>
                <a:latin typeface="Arial"/>
              </a:rPr>
              <a:t>Attention bottleneck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18504" y="1325880"/>
            <a:ext cx="5257800" cy="4023360"/>
          </a:xfrm>
          <a:prstGeom prst="rect">
            <a:avLst/>
          </a:prstGeom>
          <a:solidFill>
            <a:srgbClr val="004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29984" y="1572768"/>
            <a:ext cx="4434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 Black"/>
              </a:rPr>
              <a:t>AGENT SPEED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9984" y="233172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D2ECF1"/>
                </a:solidFill>
                <a:latin typeface="Arial"/>
              </a:rPr>
              <a:t>Parallel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41664" y="233172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Many tasks at once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9984" y="310896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D2ECF1"/>
                </a:solidFill>
                <a:latin typeface="Arial"/>
              </a:rPr>
              <a:t>Continuous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1664" y="310896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Bursty, round-the-clock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9984" y="388620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D2ECF1"/>
                </a:solidFill>
                <a:latin typeface="Arial"/>
              </a:rPr>
              <a:t>Recursive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41664" y="388620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Tool and sub-agent loops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9984" y="466344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D2ECF1"/>
                </a:solidFill>
                <a:latin typeface="Arial"/>
              </a:rPr>
              <a:t>Persistent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466344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Retries until it wins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" y="5623560"/>
            <a:ext cx="82296" cy="566928"/>
          </a:xfrm>
          <a:prstGeom prst="rect">
            <a:avLst/>
          </a:prstGeom>
          <a:solidFill>
            <a:srgbClr val="004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5623560"/>
            <a:ext cx="1070762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00498F"/>
                </a:solidFill>
                <a:latin typeface="Arial Black"/>
              </a:rPr>
              <a:t>Operational amplification: one intention becomes thousands of operations.</a:t>
            </a:r>
          </a:p>
        </p:txBody>
      </p:sp>
    </p:spTree>
    <p:extLst>
      <p:ext uri="{BB962C8B-B14F-4D97-AF65-F5344CB8AC3E}">
        <p14:creationId xmlns:p14="http://schemas.microsoft.com/office/powerpoint/2010/main" val="4116186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75488"/>
            <a:ext cx="6629400" cy="987552"/>
          </a:xfrm>
          <a:prstGeom prst="rect">
            <a:avLst/>
          </a:prstGeom>
          <a:solidFill>
            <a:srgbClr val="004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815375"/>
            <a:ext cx="5805179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  <a:latin typeface="Arial Black"/>
              </a:rPr>
              <a:t>Three signals of agent-scale demand</a:t>
            </a:r>
          </a:p>
        </p:txBody>
      </p:sp>
      <p:pic>
        <p:nvPicPr>
          <p:cNvPr id="4" name="Picture 3" descr="im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153698"/>
            <a:ext cx="1441094" cy="132816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039303" y="1153698"/>
            <a:ext cx="5152392" cy="1328166"/>
          </a:xfrm>
          <a:prstGeom prst="rect">
            <a:avLst/>
          </a:prstGeom>
          <a:solidFill>
            <a:srgbClr val="004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70379" y="1300002"/>
            <a:ext cx="4562539" cy="8129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dirty="0">
                <a:solidFill>
                  <a:srgbClr val="D2ECF1"/>
                </a:solidFill>
                <a:latin typeface="Arial"/>
              </a:rPr>
              <a:t>CLOUDFLARE  /  NETWORK EDGE</a:t>
            </a:r>
          </a:p>
          <a:p>
            <a:pPr algn="l">
              <a:spcAft>
                <a:spcPts val="400"/>
              </a:spcAft>
            </a:pPr>
            <a:r>
              <a:rPr sz="2400" b="1" dirty="0">
                <a:solidFill>
                  <a:srgbClr val="FFFFFF"/>
                </a:solidFill>
                <a:latin typeface="Arial Black"/>
              </a:rPr>
              <a:t>+1,700%</a:t>
            </a:r>
          </a:p>
          <a:p>
            <a:pPr algn="l">
              <a:lnSpc>
                <a:spcPct val="110000"/>
              </a:lnSpc>
            </a:pPr>
            <a:r>
              <a:rPr sz="1100" b="0" dirty="0">
                <a:solidFill>
                  <a:srgbClr val="FFFFFF"/>
                </a:solidFill>
                <a:latin typeface="Arial"/>
              </a:rPr>
              <a:t>daily AI-agent requests, year over year</a:t>
            </a:r>
          </a:p>
        </p:txBody>
      </p:sp>
      <p:pic>
        <p:nvPicPr>
          <p:cNvPr id="7" name="Picture 6" descr="im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761762"/>
            <a:ext cx="1441094" cy="132816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39303" y="2761762"/>
            <a:ext cx="5152392" cy="1328166"/>
          </a:xfrm>
          <a:prstGeom prst="rect">
            <a:avLst/>
          </a:prstGeom>
          <a:solidFill>
            <a:srgbClr val="004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83669" y="2908066"/>
            <a:ext cx="4649249" cy="8129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dirty="0">
                <a:solidFill>
                  <a:srgbClr val="D2ECF1"/>
                </a:solidFill>
                <a:latin typeface="Arial"/>
              </a:rPr>
              <a:t>GITHUB  /  DEVELOPER PLATFORM</a:t>
            </a:r>
          </a:p>
          <a:p>
            <a:pPr algn="l">
              <a:spcAft>
                <a:spcPts val="400"/>
              </a:spcAft>
            </a:pPr>
            <a:r>
              <a:rPr sz="2400" b="1" dirty="0">
                <a:solidFill>
                  <a:srgbClr val="FFFFFF"/>
                </a:solidFill>
                <a:latin typeface="Arial Black"/>
              </a:rPr>
              <a:t>1.4B → 2.9B</a:t>
            </a:r>
          </a:p>
          <a:p>
            <a:pPr algn="l">
              <a:lnSpc>
                <a:spcPct val="110000"/>
              </a:lnSpc>
            </a:pPr>
            <a:r>
              <a:rPr sz="1100" b="0" dirty="0">
                <a:solidFill>
                  <a:srgbClr val="FFFFFF"/>
                </a:solidFill>
                <a:latin typeface="Arial"/>
              </a:rPr>
              <a:t>monthly commits, April to August</a:t>
            </a:r>
          </a:p>
        </p:txBody>
      </p:sp>
      <p:pic>
        <p:nvPicPr>
          <p:cNvPr id="10" name="Picture 9" descr="im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369734"/>
            <a:ext cx="1441094" cy="132816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039303" y="4369734"/>
            <a:ext cx="5152392" cy="1328166"/>
          </a:xfrm>
          <a:prstGeom prst="rect">
            <a:avLst/>
          </a:prstGeom>
          <a:solidFill>
            <a:srgbClr val="004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70379" y="4516038"/>
            <a:ext cx="4562539" cy="8129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dirty="0">
                <a:solidFill>
                  <a:srgbClr val="D2ECF1"/>
                </a:solidFill>
                <a:latin typeface="Arial"/>
              </a:rPr>
              <a:t>AWS  /  DATABASE</a:t>
            </a:r>
          </a:p>
          <a:p>
            <a:pPr algn="l">
              <a:spcAft>
                <a:spcPts val="400"/>
              </a:spcAft>
            </a:pPr>
            <a:r>
              <a:rPr sz="2400" b="1" dirty="0">
                <a:solidFill>
                  <a:srgbClr val="FFFFFF"/>
                </a:solidFill>
                <a:latin typeface="Arial Black"/>
              </a:rPr>
              <a:t>12 ACUs / sec</a:t>
            </a:r>
          </a:p>
          <a:p>
            <a:pPr algn="l">
              <a:lnSpc>
                <a:spcPct val="110000"/>
              </a:lnSpc>
            </a:pPr>
            <a:r>
              <a:rPr sz="1100" b="0" dirty="0">
                <a:solidFill>
                  <a:srgbClr val="FFFFFF"/>
                </a:solidFill>
                <a:latin typeface="Arial"/>
              </a:rPr>
              <a:t>Aurora Serverless capacity, to absorb bursts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806440"/>
            <a:ext cx="6629400" cy="777240"/>
          </a:xfrm>
          <a:prstGeom prst="rect">
            <a:avLst/>
          </a:prstGeom>
          <a:solidFill>
            <a:srgbClr val="004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4" y="6087338"/>
            <a:ext cx="5915537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Arial"/>
              </a:rPr>
              <a:t>Edge, platform and database are all re-architecting for agent demand.</a:t>
            </a:r>
          </a:p>
        </p:txBody>
      </p:sp>
    </p:spTree>
    <p:extLst>
      <p:ext uri="{BB962C8B-B14F-4D97-AF65-F5344CB8AC3E}">
        <p14:creationId xmlns:p14="http://schemas.microsoft.com/office/powerpoint/2010/main" val="1892111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29184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0498F"/>
                </a:solidFill>
                <a:latin typeface="Arial Black"/>
              </a:rPr>
              <a:t>Agents amplify enterprise weaknesses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371600"/>
            <a:ext cx="4069080" cy="941832"/>
          </a:xfrm>
          <a:prstGeom prst="rect">
            <a:avLst/>
          </a:prstGeom>
          <a:solidFill>
            <a:srgbClr val="004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745736" y="1371600"/>
            <a:ext cx="6830568" cy="941832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3544" y="1371600"/>
            <a:ext cx="3566160" cy="941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IDENTITY AND PERMISSIONS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65776" y="1371600"/>
            <a:ext cx="6217920" cy="941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182F59"/>
                </a:solidFill>
                <a:latin typeface="Arial"/>
              </a:rPr>
              <a:t>Excess permission becomes excess action.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2414016"/>
            <a:ext cx="4069080" cy="941832"/>
          </a:xfrm>
          <a:prstGeom prst="rect">
            <a:avLst/>
          </a:prstGeom>
          <a:solidFill>
            <a:srgbClr val="004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745736" y="2414016"/>
            <a:ext cx="6830568" cy="941832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414016"/>
            <a:ext cx="3566160" cy="941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SAAS, APIS AND DATABASES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65776" y="2414016"/>
            <a:ext cx="6217920" cy="941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182F59"/>
                </a:solidFill>
                <a:latin typeface="Arial"/>
              </a:rPr>
              <a:t>A slow dependency becomes a retry storm.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" y="3456432"/>
            <a:ext cx="4069080" cy="941832"/>
          </a:xfrm>
          <a:prstGeom prst="rect">
            <a:avLst/>
          </a:prstGeom>
          <a:solidFill>
            <a:srgbClr val="004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45736" y="3456432"/>
            <a:ext cx="6830568" cy="941832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3544" y="3456432"/>
            <a:ext cx="3566160" cy="941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FILE SYNC AND VERSIONING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5776" y="3456432"/>
            <a:ext cx="6217920" cy="941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182F59"/>
                </a:solidFill>
                <a:latin typeface="Arial"/>
              </a:rPr>
              <a:t>One metadata error becomes thousands of versions and notifications.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" y="4498848"/>
            <a:ext cx="4069080" cy="941832"/>
          </a:xfrm>
          <a:prstGeom prst="rect">
            <a:avLst/>
          </a:prstGeom>
          <a:solidFill>
            <a:srgbClr val="004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45736" y="4498848"/>
            <a:ext cx="6830568" cy="941832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4" y="4498848"/>
            <a:ext cx="3566160" cy="941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CI/CD, QUEUES, LOGS AND RETRIES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65776" y="4498848"/>
            <a:ext cx="6217920" cy="941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182F59"/>
                </a:solidFill>
                <a:latin typeface="Arial"/>
              </a:rPr>
              <a:t>A small capacity limit becomes a cascading failure.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" y="5715000"/>
            <a:ext cx="82296" cy="566928"/>
          </a:xfrm>
          <a:prstGeom prst="rect">
            <a:avLst/>
          </a:prstGeom>
          <a:solidFill>
            <a:srgbClr val="004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715000"/>
            <a:ext cx="1070762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00498F"/>
                </a:solidFill>
                <a:latin typeface="Arial Black"/>
              </a:rPr>
              <a:t>The weakest component in the chain, not the smartest model, sets the limit.</a:t>
            </a:r>
          </a:p>
        </p:txBody>
      </p:sp>
    </p:spTree>
    <p:extLst>
      <p:ext uri="{BB962C8B-B14F-4D97-AF65-F5344CB8AC3E}">
        <p14:creationId xmlns:p14="http://schemas.microsoft.com/office/powerpoint/2010/main" val="2704543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29184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0498F"/>
                </a:solidFill>
                <a:latin typeface="Arial Black"/>
              </a:rPr>
              <a:t>Three controls define agent readiness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325880"/>
            <a:ext cx="3456432" cy="4023360"/>
          </a:xfrm>
          <a:prstGeom prst="rect">
            <a:avLst/>
          </a:prstGeom>
          <a:solidFill>
            <a:srgbClr val="004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264" y="1572768"/>
            <a:ext cx="272491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 Black"/>
              </a:rPr>
              <a:t>ATTRIBUTION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" y="2194560"/>
            <a:ext cx="2724911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Named agent identity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Human requester on record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One credential per agent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Consequential actions logged</a:t>
            </a:r>
          </a:p>
        </p:txBody>
      </p:sp>
      <p:sp>
        <p:nvSpPr>
          <p:cNvPr id="6" name="Rectangle 5"/>
          <p:cNvSpPr/>
          <p:nvPr/>
        </p:nvSpPr>
        <p:spPr>
          <a:xfrm>
            <a:off x="969264" y="4224528"/>
            <a:ext cx="2724911" cy="27432"/>
          </a:xfrm>
          <a:prstGeom prst="rect">
            <a:avLst/>
          </a:prstGeom>
          <a:solidFill>
            <a:srgbClr val="D2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4434840"/>
            <a:ext cx="272491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2ECF1"/>
                </a:solidFill>
                <a:latin typeface="Arial"/>
              </a:rPr>
              <a:t>Can we attribute every agent and every action?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8" y="1325880"/>
            <a:ext cx="3456432" cy="4023360"/>
          </a:xfrm>
          <a:prstGeom prst="rect">
            <a:avLst/>
          </a:prstGeom>
          <a:solidFill>
            <a:srgbClr val="004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27448" y="1572768"/>
            <a:ext cx="272491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 Black"/>
              </a:rPr>
              <a:t>LIMITS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2194560"/>
            <a:ext cx="2724911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Least privilege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Concurrency and rate caps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Retry and runtime budgets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Spend ceilings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7448" y="4224528"/>
            <a:ext cx="2724911" cy="27432"/>
          </a:xfrm>
          <a:prstGeom prst="rect">
            <a:avLst/>
          </a:prstGeom>
          <a:solidFill>
            <a:srgbClr val="D2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7448" y="4434840"/>
            <a:ext cx="272491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2ECF1"/>
                </a:solidFill>
                <a:latin typeface="Arial"/>
              </a:rPr>
              <a:t>Have we bounded permissions, rate, retries and spend?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19871" y="1325880"/>
            <a:ext cx="3456432" cy="4023360"/>
          </a:xfrm>
          <a:prstGeom prst="rect">
            <a:avLst/>
          </a:prstGeom>
          <a:solidFill>
            <a:srgbClr val="004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85632" y="1572768"/>
            <a:ext cx="272491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 Black"/>
              </a:rPr>
              <a:t>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2194560"/>
            <a:ext cx="2724911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Backpressure and shedding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Bounded retry policies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A real kill switch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Audit trail and rollback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85632" y="4224528"/>
            <a:ext cx="2724911" cy="27432"/>
          </a:xfrm>
          <a:prstGeom prst="rect">
            <a:avLst/>
          </a:prstGeom>
          <a:solidFill>
            <a:srgbClr val="D2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85632" y="4434840"/>
            <a:ext cx="272491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2ECF1"/>
                </a:solidFill>
                <a:latin typeface="Arial"/>
              </a:rPr>
              <a:t>Can we stop a fleet and recover cleanly?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" y="5623560"/>
            <a:ext cx="82296" cy="566928"/>
          </a:xfrm>
          <a:prstGeom prst="rect">
            <a:avLst/>
          </a:prstGeom>
          <a:solidFill>
            <a:srgbClr val="004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623560"/>
            <a:ext cx="1070762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00498F"/>
                </a:solidFill>
                <a:latin typeface="Arial Black"/>
              </a:rPr>
              <a:t>A successful proof of concept shows capability. It does not show readiness.</a:t>
            </a:r>
          </a:p>
        </p:txBody>
      </p:sp>
    </p:spTree>
    <p:extLst>
      <p:ext uri="{BB962C8B-B14F-4D97-AF65-F5344CB8AC3E}">
        <p14:creationId xmlns:p14="http://schemas.microsoft.com/office/powerpoint/2010/main" val="4116186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8EE44AAC-1035-0FC4-A11E-81283E727136}"/>
              </a:ext>
            </a:extLst>
          </p:cNvPr>
          <p:cNvSpPr>
            <a:spLocks noGrp="1"/>
          </p:cNvSpPr>
          <p:nvPr/>
        </p:nvSpPr>
        <p:spPr>
          <a:xfrm>
            <a:off x="838200" y="2003425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>
            <a:spAutoFit/>
          </a:bodyPr>
          <a:lstStyle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 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b="0" i="0" u="non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76361B-C602-49BF-89CC-42A6362FF256}"/>
              </a:ext>
            </a:extLst>
          </p:cNvPr>
          <p:cNvSpPr>
            <a:spLocks noGrp="1"/>
          </p:cNvSpPr>
          <p:nvPr/>
        </p:nvSpPr>
        <p:spPr>
          <a:xfrm>
            <a:off x="203668" y="2382618"/>
            <a:ext cx="12190655" cy="758384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sz="2400" spc="600">
                <a:solidFill>
                  <a:schemeClr val="bg1"/>
                </a:solidFill>
                <a:latin typeface="Arial"/>
                <a:ea typeface="Arial"/>
                <a:cs typeface="Arial"/>
              </a:rPr>
              <a:t>ATTRIBUTION • LIMITS • RECOVERY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F21F13-8CDA-378C-9D5A-FD74E0291A90}"/>
              </a:ext>
            </a:extLst>
          </p:cNvPr>
          <p:cNvSpPr>
            <a:spLocks noGrp="1"/>
          </p:cNvSpPr>
          <p:nvPr/>
        </p:nvSpPr>
        <p:spPr>
          <a:xfrm>
            <a:off x="541507" y="3141002"/>
            <a:ext cx="11108986" cy="1807426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sz="11000" b="1">
                <a:solidFill>
                  <a:schemeClr val="accent1"/>
                </a:solidFill>
                <a:latin typeface="Arial Black"/>
                <a:ea typeface="Arial Black"/>
                <a:cs typeface="Arial Black"/>
              </a:rPr>
              <a:t>BE READY.</a:t>
            </a:r>
          </a:p>
        </p:txBody>
      </p:sp>
      <p:pic>
        <p:nvPicPr>
          <p:cNvPr id="10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2803" y="480365"/>
            <a:ext cx="3286394" cy="1314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182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29184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 Black"/>
              </a:rPr>
              <a:t>Agent-scale failures in the wild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417320"/>
            <a:ext cx="5303520" cy="1874519"/>
          </a:xfrm>
          <a:prstGeom prst="rect">
            <a:avLst/>
          </a:prstGeom>
          <a:solidFill>
            <a:srgbClr val="F9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3504" y="1417320"/>
            <a:ext cx="100584" cy="1874519"/>
          </a:xfrm>
          <a:prstGeom prst="rect">
            <a:avLst/>
          </a:prstGeom>
          <a:solidFill>
            <a:srgbClr val="004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14984" y="1691640"/>
            <a:ext cx="4480559" cy="13258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0498F"/>
                </a:solidFill>
                <a:latin typeface="Arial"/>
              </a:rPr>
              <a:t>CURSOR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82F59"/>
                </a:solidFill>
                <a:latin typeface="Arial"/>
              </a:rPr>
              <a:t>Scheduled cloud agents hit GitHub rate limits. The fix was to stop running jobs at the top of the hour.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72784" y="1417320"/>
            <a:ext cx="5303520" cy="1874519"/>
          </a:xfrm>
          <a:prstGeom prst="rect">
            <a:avLst/>
          </a:prstGeom>
          <a:solidFill>
            <a:srgbClr val="F9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72784" y="1417320"/>
            <a:ext cx="100584" cy="1874519"/>
          </a:xfrm>
          <a:prstGeom prst="rect">
            <a:avLst/>
          </a:prstGeom>
          <a:solidFill>
            <a:srgbClr val="004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84264" y="1691640"/>
            <a:ext cx="4480559" cy="13258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0498F"/>
                </a:solidFill>
                <a:latin typeface="Arial"/>
              </a:rPr>
              <a:t>BUILDKITE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82F59"/>
                </a:solidFill>
                <a:latin typeface="Arial"/>
              </a:rPr>
              <a:t>One agentic push can trigger hundreds of parallel CI jobs, so it added Cursor Origin support to ease the load.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3611880"/>
            <a:ext cx="5303520" cy="1874519"/>
          </a:xfrm>
          <a:prstGeom prst="rect">
            <a:avLst/>
          </a:prstGeom>
          <a:solidFill>
            <a:srgbClr val="F9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3504" y="3611880"/>
            <a:ext cx="100584" cy="1874519"/>
          </a:xfrm>
          <a:prstGeom prst="rect">
            <a:avLst/>
          </a:prstGeom>
          <a:solidFill>
            <a:srgbClr val="004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4984" y="3886200"/>
            <a:ext cx="4480559" cy="13258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0498F"/>
                </a:solidFill>
                <a:latin typeface="Arial"/>
              </a:rPr>
              <a:t>LLM GATEWAY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82F59"/>
                </a:solidFill>
                <a:latin typeface="Arial"/>
              </a:rPr>
              <a:t>Added fleet-wide concurrency limits and overload shedding, because RPM did not describe long-running streams.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2784" y="3611880"/>
            <a:ext cx="5303520" cy="1874519"/>
          </a:xfrm>
          <a:prstGeom prst="rect">
            <a:avLst/>
          </a:prstGeom>
          <a:solidFill>
            <a:srgbClr val="F9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72784" y="3611880"/>
            <a:ext cx="100584" cy="1874519"/>
          </a:xfrm>
          <a:prstGeom prst="rect">
            <a:avLst/>
          </a:prstGeom>
          <a:solidFill>
            <a:srgbClr val="004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84264" y="3886200"/>
            <a:ext cx="4480559" cy="13258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0498F"/>
                </a:solidFill>
                <a:latin typeface="Arial"/>
              </a:rPr>
              <a:t>NVIDIA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82F59"/>
                </a:solidFill>
                <a:latin typeface="Arial"/>
              </a:rPr>
              <a:t>Citing OpenRouter data: agentic workloads consume roughly 15× the tokens of a simple chat request.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" y="5715000"/>
            <a:ext cx="82296" cy="566928"/>
          </a:xfrm>
          <a:prstGeom prst="rect">
            <a:avLst/>
          </a:prstGeom>
          <a:solidFill>
            <a:srgbClr val="D2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5715000"/>
            <a:ext cx="1070762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 Black"/>
              </a:rPr>
              <a:t>Synchronized, parallel, long-running demand reaching shared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2592182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6 UofM Branding">
      <a:dk1>
        <a:srgbClr val="000000"/>
      </a:dk1>
      <a:lt1>
        <a:srgbClr val="E1E3E5"/>
      </a:lt1>
      <a:dk2>
        <a:srgbClr val="00498E"/>
      </a:dk2>
      <a:lt2>
        <a:srgbClr val="F9FCFF"/>
      </a:lt2>
      <a:accent1>
        <a:srgbClr val="9C9EA0"/>
      </a:accent1>
      <a:accent2>
        <a:srgbClr val="182F59"/>
      </a:accent2>
      <a:accent3>
        <a:srgbClr val="2E6FB2"/>
      </a:accent3>
      <a:accent4>
        <a:srgbClr val="004795"/>
      </a:accent4>
      <a:accent5>
        <a:srgbClr val="506E71"/>
      </a:accent5>
      <a:accent6>
        <a:srgbClr val="D2ECF1"/>
      </a:accent6>
      <a:hlink>
        <a:srgbClr val="00498E"/>
      </a:hlink>
      <a:folHlink>
        <a:srgbClr val="00498E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026 UofM Branding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2026 UofM Branding">
      <a:dk1>
        <a:srgbClr val="000000"/>
      </a:dk1>
      <a:lt1>
        <a:srgbClr val="E1E3E5"/>
      </a:lt1>
      <a:dk2>
        <a:srgbClr val="00498E"/>
      </a:dk2>
      <a:lt2>
        <a:srgbClr val="F9FCFF"/>
      </a:lt2>
      <a:accent1>
        <a:srgbClr val="9C9EA0"/>
      </a:accent1>
      <a:accent2>
        <a:srgbClr val="182F59"/>
      </a:accent2>
      <a:accent3>
        <a:srgbClr val="2E6FB2"/>
      </a:accent3>
      <a:accent4>
        <a:srgbClr val="004795"/>
      </a:accent4>
      <a:accent5>
        <a:srgbClr val="506E71"/>
      </a:accent5>
      <a:accent6>
        <a:srgbClr val="D2ECF1"/>
      </a:accent6>
      <a:hlink>
        <a:srgbClr val="00498E"/>
      </a:hlink>
      <a:folHlink>
        <a:srgbClr val="00498E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026 UofM Branding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2026 UofM Branding">
      <a:dk1>
        <a:srgbClr val="000000"/>
      </a:dk1>
      <a:lt1>
        <a:srgbClr val="E1E3E5"/>
      </a:lt1>
      <a:dk2>
        <a:srgbClr val="00498E"/>
      </a:dk2>
      <a:lt2>
        <a:srgbClr val="F9FCFF"/>
      </a:lt2>
      <a:accent1>
        <a:srgbClr val="9C9EA0"/>
      </a:accent1>
      <a:accent2>
        <a:srgbClr val="182F59"/>
      </a:accent2>
      <a:accent3>
        <a:srgbClr val="2E6FB2"/>
      </a:accent3>
      <a:accent4>
        <a:srgbClr val="004795"/>
      </a:accent4>
      <a:accent5>
        <a:srgbClr val="506E71"/>
      </a:accent5>
      <a:accent6>
        <a:srgbClr val="D2ECF1"/>
      </a:accent6>
      <a:hlink>
        <a:srgbClr val="00498E"/>
      </a:hlink>
      <a:folHlink>
        <a:srgbClr val="00498E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026 UofM Branding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944</Words>
  <Application>Microsoft Office PowerPoint</Application>
  <DocSecurity>0</DocSecurity>
  <PresentationFormat>Widescreen</PresentationFormat>
  <Paragraphs>118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Jandee Richards</cp:lastModifiedBy>
  <cp:revision>2</cp:revision>
  <dcterms:created xsi:type="dcterms:W3CDTF">2026-08-27T04:38:08Z</dcterms:created>
  <dcterms:modified xsi:type="dcterms:W3CDTF">2026-08-27T06:09:01Z</dcterms:modified>
</cp:coreProperties>
</file>